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Raleway"/>
      <p:regular r:id="rId18"/>
    </p:embeddedFont>
    <p:embeddedFont>
      <p:font typeface="Raleway"/>
      <p:regular r:id="rId19"/>
    </p:embeddedFont>
    <p:embeddedFont>
      <p:font typeface="Raleway"/>
      <p:regular r:id="rId20"/>
    </p:embeddedFont>
    <p:embeddedFont>
      <p:font typeface="Raleway"/>
      <p:regular r:id="rId21"/>
    </p:embeddedFont>
    <p:embeddedFont>
      <p:font typeface="Roboto"/>
      <p:regular r:id="rId22"/>
    </p:embeddedFont>
    <p:embeddedFont>
      <p:font typeface="Roboto"/>
      <p:regular r:id="rId23"/>
    </p:embeddedFont>
    <p:embeddedFont>
      <p:font typeface="Roboto"/>
      <p:regular r:id="rId24"/>
    </p:embeddedFont>
    <p:embeddedFont>
      <p:font typeface="Roboto"/>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slideLayout" Target="../slideLayouts/slideLayout1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1751767"/>
            <a:ext cx="6241375" cy="4158972"/>
          </a:xfrm>
          <a:prstGeom prst="rect">
            <a:avLst/>
          </a:prstGeom>
        </p:spPr>
      </p:pic>
      <p:sp>
        <p:nvSpPr>
          <p:cNvPr id="3" name="Text 0"/>
          <p:cNvSpPr/>
          <p:nvPr/>
        </p:nvSpPr>
        <p:spPr>
          <a:xfrm>
            <a:off x="793790" y="6165890"/>
            <a:ext cx="6244709"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4" name="Text 1"/>
          <p:cNvSpPr/>
          <p:nvPr/>
        </p:nvSpPr>
        <p:spPr>
          <a:xfrm>
            <a:off x="7599521" y="1807012"/>
            <a:ext cx="6244709" cy="1417558"/>
          </a:xfrm>
          <a:prstGeom prst="rect">
            <a:avLst/>
          </a:prstGeom>
          <a:noFill/>
          <a:ln/>
        </p:spPr>
        <p:txBody>
          <a:bodyPr wrap="square" lIns="0" tIns="0" rIns="0" bIns="0" rtlCol="0" anchor="t"/>
          <a:lstStyle/>
          <a:p>
            <a:pPr algn="l" indent="0" marL="0">
              <a:lnSpc>
                <a:spcPts val="5550"/>
              </a:lnSpc>
              <a:buNone/>
            </a:pPr>
            <a:r>
              <a:rPr lang="en-US" sz="4450" b="1" dirty="0">
                <a:solidFill>
                  <a:srgbClr val="1B1B27"/>
                </a:solidFill>
                <a:latin typeface="Raleway" pitchFamily="34" charset="0"/>
                <a:ea typeface="Raleway" pitchFamily="34" charset="-122"/>
                <a:cs typeface="Raleway" pitchFamily="34" charset="-120"/>
              </a:rPr>
              <a:t>Credit Card Fraud Detection Analysis</a:t>
            </a:r>
            <a:endParaRPr lang="en-US" sz="4450" dirty="0"/>
          </a:p>
        </p:txBody>
      </p:sp>
      <p:sp>
        <p:nvSpPr>
          <p:cNvPr id="5" name="Text 2"/>
          <p:cNvSpPr/>
          <p:nvPr/>
        </p:nvSpPr>
        <p:spPr>
          <a:xfrm>
            <a:off x="7599521" y="3451384"/>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 data-driven approach to minimizing financial loss while maintaining customer trust</a:t>
            </a:r>
            <a:endParaRPr lang="en-US" sz="1750" dirty="0"/>
          </a:p>
        </p:txBody>
      </p:sp>
      <p:sp>
        <p:nvSpPr>
          <p:cNvPr id="6" name="Text 3"/>
          <p:cNvSpPr/>
          <p:nvPr/>
        </p:nvSpPr>
        <p:spPr>
          <a:xfrm>
            <a:off x="7599521" y="4381262"/>
            <a:ext cx="6244709"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7" name="Text 4"/>
          <p:cNvSpPr/>
          <p:nvPr/>
        </p:nvSpPr>
        <p:spPr>
          <a:xfrm>
            <a:off x="7599521" y="4948238"/>
            <a:ext cx="6244709"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8" name="Text 5"/>
          <p:cNvSpPr/>
          <p:nvPr/>
        </p:nvSpPr>
        <p:spPr>
          <a:xfrm>
            <a:off x="7599521" y="5515213"/>
            <a:ext cx="6244709"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9" name="Text 6"/>
          <p:cNvSpPr/>
          <p:nvPr/>
        </p:nvSpPr>
        <p:spPr>
          <a:xfrm>
            <a:off x="7599521" y="6082189"/>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AUTHOR: MICHELLE MWENDE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983950"/>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Business Challenge</a:t>
            </a:r>
            <a:endParaRPr lang="en-US" sz="4450" dirty="0"/>
          </a:p>
        </p:txBody>
      </p:sp>
      <p:sp>
        <p:nvSpPr>
          <p:cNvPr id="4" name="Shape 1"/>
          <p:cNvSpPr/>
          <p:nvPr/>
        </p:nvSpPr>
        <p:spPr>
          <a:xfrm>
            <a:off x="793790" y="5032891"/>
            <a:ext cx="4196358" cy="2047994"/>
          </a:xfrm>
          <a:prstGeom prst="roundRect">
            <a:avLst>
              <a:gd name="adj" fmla="val 4652"/>
            </a:avLst>
          </a:prstGeom>
          <a:solidFill>
            <a:srgbClr val="E1E1EA"/>
          </a:solidFill>
          <a:ln w="7620">
            <a:solidFill>
              <a:srgbClr val="C7C7D0"/>
            </a:solidFill>
            <a:prstDash val="solid"/>
          </a:ln>
        </p:spPr>
      </p:sp>
      <p:sp>
        <p:nvSpPr>
          <p:cNvPr id="5" name="Text 2"/>
          <p:cNvSpPr/>
          <p:nvPr/>
        </p:nvSpPr>
        <p:spPr>
          <a:xfrm>
            <a:off x="1028224" y="526732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Financial Risk</a:t>
            </a:r>
            <a:endParaRPr lang="en-US" sz="2200" dirty="0"/>
          </a:p>
        </p:txBody>
      </p:sp>
      <p:sp>
        <p:nvSpPr>
          <p:cNvPr id="6" name="Text 3"/>
          <p:cNvSpPr/>
          <p:nvPr/>
        </p:nvSpPr>
        <p:spPr>
          <a:xfrm>
            <a:off x="1028224" y="5757743"/>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Credit card fraud causes direct monetary losses and erodes customer trust</a:t>
            </a:r>
            <a:endParaRPr lang="en-US" sz="1750" dirty="0"/>
          </a:p>
        </p:txBody>
      </p:sp>
      <p:sp>
        <p:nvSpPr>
          <p:cNvPr id="7" name="Shape 4"/>
          <p:cNvSpPr/>
          <p:nvPr/>
        </p:nvSpPr>
        <p:spPr>
          <a:xfrm>
            <a:off x="5216962" y="5032891"/>
            <a:ext cx="4196358" cy="2047994"/>
          </a:xfrm>
          <a:prstGeom prst="roundRect">
            <a:avLst>
              <a:gd name="adj" fmla="val 4652"/>
            </a:avLst>
          </a:prstGeom>
          <a:solidFill>
            <a:srgbClr val="E1E1EA"/>
          </a:solidFill>
          <a:ln w="7620">
            <a:solidFill>
              <a:srgbClr val="C7C7D0"/>
            </a:solidFill>
            <a:prstDash val="solid"/>
          </a:ln>
        </p:spPr>
      </p:sp>
      <p:sp>
        <p:nvSpPr>
          <p:cNvPr id="8" name="Text 5"/>
          <p:cNvSpPr/>
          <p:nvPr/>
        </p:nvSpPr>
        <p:spPr>
          <a:xfrm>
            <a:off x="5451396" y="526732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Competing Priorities</a:t>
            </a:r>
            <a:endParaRPr lang="en-US" sz="2200" dirty="0"/>
          </a:p>
        </p:txBody>
      </p:sp>
      <p:sp>
        <p:nvSpPr>
          <p:cNvPr id="9" name="Text 6"/>
          <p:cNvSpPr/>
          <p:nvPr/>
        </p:nvSpPr>
        <p:spPr>
          <a:xfrm>
            <a:off x="5451396" y="5757743"/>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Balance detecting fraud (false negatives) vs. blocking legitimate transactions (false positives)</a:t>
            </a:r>
            <a:endParaRPr lang="en-US" sz="1750" dirty="0"/>
          </a:p>
        </p:txBody>
      </p:sp>
      <p:sp>
        <p:nvSpPr>
          <p:cNvPr id="10" name="Shape 7"/>
          <p:cNvSpPr/>
          <p:nvPr/>
        </p:nvSpPr>
        <p:spPr>
          <a:xfrm>
            <a:off x="9640133" y="5032891"/>
            <a:ext cx="4196358" cy="2047994"/>
          </a:xfrm>
          <a:prstGeom prst="roundRect">
            <a:avLst>
              <a:gd name="adj" fmla="val 4652"/>
            </a:avLst>
          </a:prstGeom>
          <a:solidFill>
            <a:srgbClr val="E1E1EA"/>
          </a:solidFill>
          <a:ln w="7620">
            <a:solidFill>
              <a:srgbClr val="C7C7D0"/>
            </a:solidFill>
            <a:prstDash val="solid"/>
          </a:ln>
        </p:spPr>
      </p:sp>
      <p:sp>
        <p:nvSpPr>
          <p:cNvPr id="11" name="Text 8"/>
          <p:cNvSpPr/>
          <p:nvPr/>
        </p:nvSpPr>
        <p:spPr>
          <a:xfrm>
            <a:off x="9874568" y="526732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Legacy Systems</a:t>
            </a:r>
            <a:endParaRPr lang="en-US" sz="2200" dirty="0"/>
          </a:p>
        </p:txBody>
      </p:sp>
      <p:sp>
        <p:nvSpPr>
          <p:cNvPr id="12" name="Text 9"/>
          <p:cNvSpPr/>
          <p:nvPr/>
        </p:nvSpPr>
        <p:spPr>
          <a:xfrm>
            <a:off x="9874568" y="5757743"/>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Static rules struggle to adapt to evolving fraud patterns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8604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Project Objectives</a:t>
            </a:r>
            <a:endParaRPr lang="en-US" sz="4450" dirty="0"/>
          </a:p>
        </p:txBody>
      </p:sp>
      <p:sp>
        <p:nvSpPr>
          <p:cNvPr id="3" name="Text 1"/>
          <p:cNvSpPr/>
          <p:nvPr/>
        </p:nvSpPr>
        <p:spPr>
          <a:xfrm>
            <a:off x="793790"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aleway Light" pitchFamily="34" charset="0"/>
                <a:ea typeface="Raleway Light" pitchFamily="34" charset="-122"/>
                <a:cs typeface="Raleway Light" pitchFamily="34" charset="-120"/>
              </a:rPr>
              <a:t>01</a:t>
            </a:r>
            <a:endParaRPr lang="en-US" sz="1750" dirty="0"/>
          </a:p>
        </p:txBody>
      </p:sp>
      <p:sp>
        <p:nvSpPr>
          <p:cNvPr id="4" name="Shape 2"/>
          <p:cNvSpPr/>
          <p:nvPr/>
        </p:nvSpPr>
        <p:spPr>
          <a:xfrm>
            <a:off x="793790" y="3203496"/>
            <a:ext cx="6407944" cy="30480"/>
          </a:xfrm>
          <a:prstGeom prst="rect">
            <a:avLst/>
          </a:prstGeom>
          <a:solidFill>
            <a:srgbClr val="1B1B27"/>
          </a:solidFill>
          <a:ln/>
        </p:spPr>
      </p:sp>
      <p:sp>
        <p:nvSpPr>
          <p:cNvPr id="5" name="Text 3"/>
          <p:cNvSpPr/>
          <p:nvPr/>
        </p:nvSpPr>
        <p:spPr>
          <a:xfrm>
            <a:off x="793790" y="3377803"/>
            <a:ext cx="3719870"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Explore Transaction Patterns</a:t>
            </a:r>
            <a:endParaRPr lang="en-US" sz="2200" dirty="0"/>
          </a:p>
        </p:txBody>
      </p:sp>
      <p:sp>
        <p:nvSpPr>
          <p:cNvPr id="6" name="Text 4"/>
          <p:cNvSpPr/>
          <p:nvPr/>
        </p:nvSpPr>
        <p:spPr>
          <a:xfrm>
            <a:off x="793790" y="386822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Understand fraudulent vs. non-fraudulent behavior through EDA</a:t>
            </a:r>
            <a:endParaRPr lang="en-US" sz="1750" dirty="0"/>
          </a:p>
        </p:txBody>
      </p:sp>
      <p:sp>
        <p:nvSpPr>
          <p:cNvPr id="7" name="Text 5"/>
          <p:cNvSpPr/>
          <p:nvPr/>
        </p:nvSpPr>
        <p:spPr>
          <a:xfrm>
            <a:off x="7428548"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aleway Light" pitchFamily="34" charset="0"/>
                <a:ea typeface="Raleway Light" pitchFamily="34" charset="-122"/>
                <a:cs typeface="Raleway Light" pitchFamily="34" charset="-120"/>
              </a:rPr>
              <a:t>02</a:t>
            </a:r>
            <a:endParaRPr lang="en-US" sz="1750" dirty="0"/>
          </a:p>
        </p:txBody>
      </p:sp>
      <p:sp>
        <p:nvSpPr>
          <p:cNvPr id="8" name="Shape 6"/>
          <p:cNvSpPr/>
          <p:nvPr/>
        </p:nvSpPr>
        <p:spPr>
          <a:xfrm>
            <a:off x="7428548" y="3203496"/>
            <a:ext cx="6408063" cy="30480"/>
          </a:xfrm>
          <a:prstGeom prst="rect">
            <a:avLst/>
          </a:prstGeom>
          <a:solidFill>
            <a:srgbClr val="1B1B27"/>
          </a:solidFill>
          <a:ln/>
        </p:spPr>
      </p:sp>
      <p:sp>
        <p:nvSpPr>
          <p:cNvPr id="9" name="Text 7"/>
          <p:cNvSpPr/>
          <p:nvPr/>
        </p:nvSpPr>
        <p:spPr>
          <a:xfrm>
            <a:off x="7428548" y="3377803"/>
            <a:ext cx="329624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Address Class Imbalance</a:t>
            </a:r>
            <a:endParaRPr lang="en-US" sz="2200" dirty="0"/>
          </a:p>
        </p:txBody>
      </p:sp>
      <p:sp>
        <p:nvSpPr>
          <p:cNvPr id="10" name="Text 8"/>
          <p:cNvSpPr/>
          <p:nvPr/>
        </p:nvSpPr>
        <p:spPr>
          <a:xfrm>
            <a:off x="7428548" y="3868222"/>
            <a:ext cx="6408063"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Assess impact on fraud detection performance</a:t>
            </a:r>
            <a:endParaRPr lang="en-US" sz="1750" dirty="0"/>
          </a:p>
        </p:txBody>
      </p:sp>
      <p:sp>
        <p:nvSpPr>
          <p:cNvPr id="11" name="Text 9"/>
          <p:cNvSpPr/>
          <p:nvPr/>
        </p:nvSpPr>
        <p:spPr>
          <a:xfrm>
            <a:off x="793790" y="4627959"/>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aleway Light" pitchFamily="34" charset="0"/>
                <a:ea typeface="Raleway Light" pitchFamily="34" charset="-122"/>
                <a:cs typeface="Raleway Light" pitchFamily="34" charset="-120"/>
              </a:rPr>
              <a:t>03</a:t>
            </a:r>
            <a:endParaRPr lang="en-US" sz="1750" dirty="0"/>
          </a:p>
        </p:txBody>
      </p:sp>
      <p:sp>
        <p:nvSpPr>
          <p:cNvPr id="12" name="Shape 10"/>
          <p:cNvSpPr/>
          <p:nvPr/>
        </p:nvSpPr>
        <p:spPr>
          <a:xfrm>
            <a:off x="793790" y="4983004"/>
            <a:ext cx="6407944" cy="30480"/>
          </a:xfrm>
          <a:prstGeom prst="rect">
            <a:avLst/>
          </a:prstGeom>
          <a:solidFill>
            <a:srgbClr val="1B1B27"/>
          </a:solidFill>
          <a:ln/>
        </p:spPr>
      </p:sp>
      <p:sp>
        <p:nvSpPr>
          <p:cNvPr id="13" name="Text 11"/>
          <p:cNvSpPr/>
          <p:nvPr/>
        </p:nvSpPr>
        <p:spPr>
          <a:xfrm>
            <a:off x="793790" y="5157311"/>
            <a:ext cx="3504248"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Build Classification Models</a:t>
            </a:r>
            <a:endParaRPr lang="en-US" sz="2200" dirty="0"/>
          </a:p>
        </p:txBody>
      </p:sp>
      <p:sp>
        <p:nvSpPr>
          <p:cNvPr id="14" name="Text 12"/>
          <p:cNvSpPr/>
          <p:nvPr/>
        </p:nvSpPr>
        <p:spPr>
          <a:xfrm>
            <a:off x="793790" y="5647730"/>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Compare multiple approaches for identifying fraud</a:t>
            </a:r>
            <a:endParaRPr lang="en-US" sz="1750" dirty="0"/>
          </a:p>
        </p:txBody>
      </p:sp>
      <p:sp>
        <p:nvSpPr>
          <p:cNvPr id="15" name="Text 13"/>
          <p:cNvSpPr/>
          <p:nvPr/>
        </p:nvSpPr>
        <p:spPr>
          <a:xfrm>
            <a:off x="7428548" y="4627959"/>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aleway Light" pitchFamily="34" charset="0"/>
                <a:ea typeface="Raleway Light" pitchFamily="34" charset="-122"/>
                <a:cs typeface="Raleway Light" pitchFamily="34" charset="-120"/>
              </a:rPr>
              <a:t>04</a:t>
            </a:r>
            <a:endParaRPr lang="en-US" sz="1750" dirty="0"/>
          </a:p>
        </p:txBody>
      </p:sp>
      <p:sp>
        <p:nvSpPr>
          <p:cNvPr id="16" name="Shape 14"/>
          <p:cNvSpPr/>
          <p:nvPr/>
        </p:nvSpPr>
        <p:spPr>
          <a:xfrm>
            <a:off x="7428548" y="4983004"/>
            <a:ext cx="6408063" cy="30480"/>
          </a:xfrm>
          <a:prstGeom prst="rect">
            <a:avLst/>
          </a:prstGeom>
          <a:solidFill>
            <a:srgbClr val="1B1B27"/>
          </a:solidFill>
          <a:ln/>
        </p:spPr>
      </p:sp>
      <p:sp>
        <p:nvSpPr>
          <p:cNvPr id="17" name="Text 15"/>
          <p:cNvSpPr/>
          <p:nvPr/>
        </p:nvSpPr>
        <p:spPr>
          <a:xfrm>
            <a:off x="7428548" y="5157311"/>
            <a:ext cx="2934891"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Optimize Performance</a:t>
            </a:r>
            <a:endParaRPr lang="en-US" sz="2200" dirty="0"/>
          </a:p>
        </p:txBody>
      </p:sp>
      <p:sp>
        <p:nvSpPr>
          <p:cNvPr id="18" name="Text 16"/>
          <p:cNvSpPr/>
          <p:nvPr/>
        </p:nvSpPr>
        <p:spPr>
          <a:xfrm>
            <a:off x="7428548" y="5647730"/>
            <a:ext cx="6408063"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Balance false positives and false negatives to minimize expected loss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22258"/>
          </a:xfrm>
          <a:prstGeom prst="rect">
            <a:avLst/>
          </a:prstGeom>
        </p:spPr>
      </p:pic>
      <p:sp>
        <p:nvSpPr>
          <p:cNvPr id="3" name="Text 0"/>
          <p:cNvSpPr/>
          <p:nvPr/>
        </p:nvSpPr>
        <p:spPr>
          <a:xfrm>
            <a:off x="790218" y="3443645"/>
            <a:ext cx="5644515" cy="705564"/>
          </a:xfrm>
          <a:prstGeom prst="rect">
            <a:avLst/>
          </a:prstGeom>
          <a:noFill/>
          <a:ln/>
        </p:spPr>
        <p:txBody>
          <a:bodyPr wrap="none" lIns="0" tIns="0" rIns="0" bIns="0" rtlCol="0" anchor="t"/>
          <a:lstStyle/>
          <a:p>
            <a:pPr algn="l" indent="0" marL="0">
              <a:lnSpc>
                <a:spcPts val="5550"/>
              </a:lnSpc>
              <a:buNone/>
            </a:pPr>
            <a:r>
              <a:rPr lang="en-US" sz="4400" dirty="0">
                <a:solidFill>
                  <a:srgbClr val="1B1B27"/>
                </a:solidFill>
                <a:latin typeface="Raleway" pitchFamily="34" charset="0"/>
                <a:ea typeface="Raleway" pitchFamily="34" charset="-122"/>
                <a:cs typeface="Raleway" pitchFamily="34" charset="-120"/>
              </a:rPr>
              <a:t>Dataset Overview</a:t>
            </a:r>
            <a:endParaRPr lang="en-US" sz="4400" dirty="0"/>
          </a:p>
        </p:txBody>
      </p:sp>
      <p:sp>
        <p:nvSpPr>
          <p:cNvPr id="4" name="Text 1"/>
          <p:cNvSpPr/>
          <p:nvPr/>
        </p:nvSpPr>
        <p:spPr>
          <a:xfrm>
            <a:off x="790218" y="4713565"/>
            <a:ext cx="3386733" cy="423386"/>
          </a:xfrm>
          <a:prstGeom prst="rect">
            <a:avLst/>
          </a:prstGeom>
          <a:noFill/>
          <a:ln/>
        </p:spPr>
        <p:txBody>
          <a:bodyPr wrap="none" lIns="0" tIns="0" rIns="0" bIns="0" rtlCol="0" anchor="t"/>
          <a:lstStyle/>
          <a:p>
            <a:pPr algn="l" indent="0" marL="0">
              <a:lnSpc>
                <a:spcPts val="3300"/>
              </a:lnSpc>
              <a:buNone/>
            </a:pPr>
            <a:r>
              <a:rPr lang="en-US" sz="2650" dirty="0">
                <a:solidFill>
                  <a:srgbClr val="1B1B27"/>
                </a:solidFill>
                <a:latin typeface="Raleway" pitchFamily="34" charset="0"/>
                <a:ea typeface="Raleway" pitchFamily="34" charset="-122"/>
                <a:cs typeface="Raleway" pitchFamily="34" charset="-120"/>
              </a:rPr>
              <a:t>284,807 Transactions</a:t>
            </a:r>
            <a:endParaRPr lang="en-US" sz="2650" dirty="0"/>
          </a:p>
        </p:txBody>
      </p:sp>
      <p:sp>
        <p:nvSpPr>
          <p:cNvPr id="5" name="Text 2"/>
          <p:cNvSpPr/>
          <p:nvPr/>
        </p:nvSpPr>
        <p:spPr>
          <a:xfrm>
            <a:off x="790218" y="5362694"/>
            <a:ext cx="6249591" cy="361117"/>
          </a:xfrm>
          <a:prstGeom prst="rect">
            <a:avLst/>
          </a:prstGeom>
          <a:noFill/>
          <a:ln/>
        </p:spPr>
        <p:txBody>
          <a:bodyPr wrap="none" lIns="0" tIns="0" rIns="0" bIns="0" rtlCol="0" anchor="t"/>
          <a:lstStyle/>
          <a:p>
            <a:pPr algn="l" indent="0" marL="0">
              <a:lnSpc>
                <a:spcPts val="2800"/>
              </a:lnSpc>
              <a:buNone/>
            </a:pPr>
            <a:r>
              <a:rPr lang="en-US" sz="1750" dirty="0">
                <a:solidFill>
                  <a:srgbClr val="3C3939"/>
                </a:solidFill>
                <a:latin typeface="Roboto" pitchFamily="34" charset="0"/>
                <a:ea typeface="Roboto" pitchFamily="34" charset="-122"/>
                <a:cs typeface="Roboto" pitchFamily="34" charset="-120"/>
              </a:rPr>
              <a:t>European cardholders over two days in September 2013</a:t>
            </a:r>
            <a:endParaRPr lang="en-US" sz="1750" dirty="0"/>
          </a:p>
        </p:txBody>
      </p:sp>
      <p:sp>
        <p:nvSpPr>
          <p:cNvPr id="6" name="Text 3"/>
          <p:cNvSpPr/>
          <p:nvPr/>
        </p:nvSpPr>
        <p:spPr>
          <a:xfrm>
            <a:off x="790218" y="5926931"/>
            <a:ext cx="6249591" cy="722233"/>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3C3939"/>
                </a:solidFill>
                <a:latin typeface="Roboto" pitchFamily="34" charset="0"/>
                <a:ea typeface="Roboto" pitchFamily="34" charset="-122"/>
                <a:cs typeface="Roboto" pitchFamily="34" charset="-120"/>
              </a:rPr>
              <a:t>31 numerical features (V1-V28 PCA-transformed, Time, Amount)</a:t>
            </a:r>
            <a:endParaRPr lang="en-US" sz="1750" dirty="0"/>
          </a:p>
        </p:txBody>
      </p:sp>
      <p:sp>
        <p:nvSpPr>
          <p:cNvPr id="7" name="Text 4"/>
          <p:cNvSpPr/>
          <p:nvPr/>
        </p:nvSpPr>
        <p:spPr>
          <a:xfrm>
            <a:off x="790218" y="6728103"/>
            <a:ext cx="6249591" cy="361117"/>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3C3939"/>
                </a:solidFill>
                <a:latin typeface="Roboto" pitchFamily="34" charset="0"/>
                <a:ea typeface="Roboto" pitchFamily="34" charset="-122"/>
                <a:cs typeface="Roboto" pitchFamily="34" charset="-120"/>
              </a:rPr>
              <a:t>Highly anonymized for confidentiality</a:t>
            </a:r>
            <a:endParaRPr lang="en-US" sz="1750" dirty="0"/>
          </a:p>
        </p:txBody>
      </p:sp>
      <p:sp>
        <p:nvSpPr>
          <p:cNvPr id="8" name="Text 5"/>
          <p:cNvSpPr/>
          <p:nvPr/>
        </p:nvSpPr>
        <p:spPr>
          <a:xfrm>
            <a:off x="790218" y="7168158"/>
            <a:ext cx="6249591" cy="361117"/>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3C3939"/>
                </a:solidFill>
                <a:latin typeface="Roboto" pitchFamily="34" charset="0"/>
                <a:ea typeface="Roboto" pitchFamily="34" charset="-122"/>
                <a:cs typeface="Roboto" pitchFamily="34" charset="-120"/>
              </a:rPr>
              <a:t>Clean dataset with no missing values</a:t>
            </a:r>
            <a:endParaRPr lang="en-US" sz="1750" dirty="0"/>
          </a:p>
        </p:txBody>
      </p:sp>
      <p:sp>
        <p:nvSpPr>
          <p:cNvPr id="9" name="Text 6"/>
          <p:cNvSpPr/>
          <p:nvPr/>
        </p:nvSpPr>
        <p:spPr>
          <a:xfrm>
            <a:off x="7598212" y="4854654"/>
            <a:ext cx="2983706" cy="744974"/>
          </a:xfrm>
          <a:prstGeom prst="rect">
            <a:avLst/>
          </a:prstGeom>
          <a:noFill/>
          <a:ln/>
        </p:spPr>
        <p:txBody>
          <a:bodyPr wrap="none" lIns="0" tIns="0" rIns="0" bIns="0" rtlCol="0" anchor="t"/>
          <a:lstStyle/>
          <a:p>
            <a:pPr algn="ctr" indent="0" marL="0">
              <a:lnSpc>
                <a:spcPts val="5850"/>
              </a:lnSpc>
              <a:buNone/>
            </a:pPr>
            <a:r>
              <a:rPr lang="en-US" sz="5850" dirty="0">
                <a:solidFill>
                  <a:srgbClr val="3C3939"/>
                </a:solidFill>
                <a:latin typeface="Raleway" pitchFamily="34" charset="0"/>
                <a:ea typeface="Raleway" pitchFamily="34" charset="-122"/>
                <a:cs typeface="Raleway" pitchFamily="34" charset="-120"/>
              </a:rPr>
              <a:t>0.17%</a:t>
            </a:r>
            <a:endParaRPr lang="en-US" sz="5850" dirty="0"/>
          </a:p>
        </p:txBody>
      </p:sp>
      <p:sp>
        <p:nvSpPr>
          <p:cNvPr id="10" name="Text 7"/>
          <p:cNvSpPr/>
          <p:nvPr/>
        </p:nvSpPr>
        <p:spPr>
          <a:xfrm>
            <a:off x="7678936" y="5881807"/>
            <a:ext cx="2822258" cy="352663"/>
          </a:xfrm>
          <a:prstGeom prst="rect">
            <a:avLst/>
          </a:prstGeom>
          <a:noFill/>
          <a:ln/>
        </p:spPr>
        <p:txBody>
          <a:bodyPr wrap="none" lIns="0" tIns="0" rIns="0" bIns="0" rtlCol="0" anchor="t"/>
          <a:lstStyle/>
          <a:p>
            <a:pPr algn="ctr" indent="0" marL="0">
              <a:lnSpc>
                <a:spcPts val="2750"/>
              </a:lnSpc>
              <a:buNone/>
            </a:pPr>
            <a:r>
              <a:rPr lang="en-US" sz="2200" dirty="0">
                <a:solidFill>
                  <a:srgbClr val="3C3939"/>
                </a:solidFill>
                <a:latin typeface="Raleway" pitchFamily="34" charset="0"/>
                <a:ea typeface="Raleway" pitchFamily="34" charset="-122"/>
                <a:cs typeface="Raleway" pitchFamily="34" charset="-120"/>
              </a:rPr>
              <a:t>Fraudulent</a:t>
            </a:r>
            <a:endParaRPr lang="en-US" sz="2200" dirty="0"/>
          </a:p>
        </p:txBody>
      </p:sp>
      <p:sp>
        <p:nvSpPr>
          <p:cNvPr id="11" name="Text 8"/>
          <p:cNvSpPr/>
          <p:nvPr/>
        </p:nvSpPr>
        <p:spPr>
          <a:xfrm>
            <a:off x="7598212" y="6460212"/>
            <a:ext cx="2983706" cy="361117"/>
          </a:xfrm>
          <a:prstGeom prst="rect">
            <a:avLst/>
          </a:prstGeom>
          <a:noFill/>
          <a:ln/>
        </p:spPr>
        <p:txBody>
          <a:bodyPr wrap="none" lIns="0" tIns="0" rIns="0" bIns="0" rtlCol="0" anchor="t"/>
          <a:lstStyle/>
          <a:p>
            <a:pPr algn="ctr" indent="0" marL="0">
              <a:lnSpc>
                <a:spcPts val="2800"/>
              </a:lnSpc>
              <a:buNone/>
            </a:pPr>
            <a:r>
              <a:rPr lang="en-US" sz="1750" dirty="0">
                <a:solidFill>
                  <a:srgbClr val="3C3939"/>
                </a:solidFill>
                <a:latin typeface="Roboto" pitchFamily="34" charset="0"/>
                <a:ea typeface="Roboto" pitchFamily="34" charset="-122"/>
                <a:cs typeface="Roboto" pitchFamily="34" charset="-120"/>
              </a:rPr>
              <a:t>Only 492 fraud cases</a:t>
            </a:r>
            <a:endParaRPr lang="en-US" sz="1750" dirty="0"/>
          </a:p>
        </p:txBody>
      </p:sp>
      <p:sp>
        <p:nvSpPr>
          <p:cNvPr id="12" name="Text 9"/>
          <p:cNvSpPr/>
          <p:nvPr/>
        </p:nvSpPr>
        <p:spPr>
          <a:xfrm>
            <a:off x="10864096" y="4854654"/>
            <a:ext cx="2983706" cy="744974"/>
          </a:xfrm>
          <a:prstGeom prst="rect">
            <a:avLst/>
          </a:prstGeom>
          <a:noFill/>
          <a:ln/>
        </p:spPr>
        <p:txBody>
          <a:bodyPr wrap="none" lIns="0" tIns="0" rIns="0" bIns="0" rtlCol="0" anchor="t"/>
          <a:lstStyle/>
          <a:p>
            <a:pPr algn="ctr" indent="0" marL="0">
              <a:lnSpc>
                <a:spcPts val="5850"/>
              </a:lnSpc>
              <a:buNone/>
            </a:pPr>
            <a:r>
              <a:rPr lang="en-US" sz="5850" dirty="0">
                <a:solidFill>
                  <a:srgbClr val="3C3939"/>
                </a:solidFill>
                <a:latin typeface="Raleway" pitchFamily="34" charset="0"/>
                <a:ea typeface="Raleway" pitchFamily="34" charset="-122"/>
                <a:cs typeface="Raleway" pitchFamily="34" charset="-120"/>
              </a:rPr>
              <a:t>578:1</a:t>
            </a:r>
            <a:endParaRPr lang="en-US" sz="5850" dirty="0"/>
          </a:p>
        </p:txBody>
      </p:sp>
      <p:sp>
        <p:nvSpPr>
          <p:cNvPr id="13" name="Text 10"/>
          <p:cNvSpPr/>
          <p:nvPr/>
        </p:nvSpPr>
        <p:spPr>
          <a:xfrm>
            <a:off x="10944820" y="5881807"/>
            <a:ext cx="2822258" cy="352663"/>
          </a:xfrm>
          <a:prstGeom prst="rect">
            <a:avLst/>
          </a:prstGeom>
          <a:noFill/>
          <a:ln/>
        </p:spPr>
        <p:txBody>
          <a:bodyPr wrap="none" lIns="0" tIns="0" rIns="0" bIns="0" rtlCol="0" anchor="t"/>
          <a:lstStyle/>
          <a:p>
            <a:pPr algn="ctr" indent="0" marL="0">
              <a:lnSpc>
                <a:spcPts val="2750"/>
              </a:lnSpc>
              <a:buNone/>
            </a:pPr>
            <a:r>
              <a:rPr lang="en-US" sz="2200" dirty="0">
                <a:solidFill>
                  <a:srgbClr val="3C3939"/>
                </a:solidFill>
                <a:latin typeface="Raleway" pitchFamily="34" charset="0"/>
                <a:ea typeface="Raleway" pitchFamily="34" charset="-122"/>
                <a:cs typeface="Raleway" pitchFamily="34" charset="-120"/>
              </a:rPr>
              <a:t>Imbalance Ratio</a:t>
            </a:r>
            <a:endParaRPr lang="en-US" sz="2200" dirty="0"/>
          </a:p>
        </p:txBody>
      </p:sp>
      <p:sp>
        <p:nvSpPr>
          <p:cNvPr id="14" name="Text 11"/>
          <p:cNvSpPr/>
          <p:nvPr/>
        </p:nvSpPr>
        <p:spPr>
          <a:xfrm>
            <a:off x="10864096" y="6460212"/>
            <a:ext cx="2983706" cy="361117"/>
          </a:xfrm>
          <a:prstGeom prst="rect">
            <a:avLst/>
          </a:prstGeom>
          <a:noFill/>
          <a:ln/>
        </p:spPr>
        <p:txBody>
          <a:bodyPr wrap="none" lIns="0" tIns="0" rIns="0" bIns="0" rtlCol="0" anchor="t"/>
          <a:lstStyle/>
          <a:p>
            <a:pPr algn="ctr" indent="0" marL="0">
              <a:lnSpc>
                <a:spcPts val="2800"/>
              </a:lnSpc>
              <a:buNone/>
            </a:pPr>
            <a:r>
              <a:rPr lang="en-US" sz="1750" dirty="0">
                <a:solidFill>
                  <a:srgbClr val="3C3939"/>
                </a:solidFill>
                <a:latin typeface="Roboto" pitchFamily="34" charset="0"/>
                <a:ea typeface="Roboto" pitchFamily="34" charset="-122"/>
                <a:cs typeface="Roboto" pitchFamily="34" charset="-120"/>
              </a:rPr>
              <a:t>Extreme class imbalance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0" y="0"/>
            <a:ext cx="9144000" cy="8229600"/>
          </a:xfrm>
          <a:prstGeom prst="rect">
            <a:avLst/>
          </a:prstGeom>
        </p:spPr>
      </p:pic>
      <p:pic>
        <p:nvPicPr>
          <p:cNvPr id="3" name="Image 1" descr="preencoded.png">    </p:cNvPr>
          <p:cNvPicPr>
            <a:picLocks noChangeAspect="1"/>
          </p:cNvPicPr>
          <p:nvPr/>
        </p:nvPicPr>
        <p:blipFill>
          <a:blip r:embed="rId2"/>
          <a:stretch>
            <a:fillRect/>
          </a:stretch>
        </p:blipFill>
        <p:spPr>
          <a:xfrm>
            <a:off x="5770007" y="2453045"/>
            <a:ext cx="8576786" cy="3323511"/>
          </a:xfrm>
          <a:prstGeom prst="rect">
            <a:avLst/>
          </a:prstGeom>
        </p:spPr>
      </p:pic>
      <p:sp>
        <p:nvSpPr>
          <p:cNvPr id="4" name="Text 0"/>
          <p:cNvSpPr/>
          <p:nvPr/>
        </p:nvSpPr>
        <p:spPr>
          <a:xfrm>
            <a:off x="793790" y="1792843"/>
            <a:ext cx="3898821" cy="2126337"/>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The Imbalance Challenge</a:t>
            </a:r>
            <a:endParaRPr lang="en-US" sz="4450" dirty="0"/>
          </a:p>
        </p:txBody>
      </p:sp>
      <p:sp>
        <p:nvSpPr>
          <p:cNvPr id="5" name="Text 1"/>
          <p:cNvSpPr/>
          <p:nvPr/>
        </p:nvSpPr>
        <p:spPr>
          <a:xfrm>
            <a:off x="793790" y="4259342"/>
            <a:ext cx="3898821" cy="217741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With 99.83% legitimate transactions, traditional accuracy metrics are misleading. A model predicting all transactions as legitimate would achieve 99.83% accuracy while detecting zero fraud.</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537942"/>
            <a:ext cx="6727269"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Data Preparation Strategy</a:t>
            </a:r>
            <a:endParaRPr lang="en-US" sz="4450" dirty="0"/>
          </a:p>
        </p:txBody>
      </p:sp>
      <p:pic>
        <p:nvPicPr>
          <p:cNvPr id="4" name="Image 1" descr="preencoded.png">    </p:cNvPr>
          <p:cNvPicPr>
            <a:picLocks noChangeAspect="1"/>
          </p:cNvPicPr>
          <p:nvPr/>
        </p:nvPicPr>
        <p:blipFill>
          <a:blip r:embed="rId2"/>
          <a:stretch>
            <a:fillRect/>
          </a:stretch>
        </p:blipFill>
        <p:spPr>
          <a:xfrm>
            <a:off x="793790" y="4586883"/>
            <a:ext cx="4347567" cy="907256"/>
          </a:xfrm>
          <a:prstGeom prst="rect">
            <a:avLst/>
          </a:prstGeom>
        </p:spPr>
      </p:pic>
      <p:sp>
        <p:nvSpPr>
          <p:cNvPr id="5" name="Text 1"/>
          <p:cNvSpPr/>
          <p:nvPr/>
        </p:nvSpPr>
        <p:spPr>
          <a:xfrm>
            <a:off x="1020604" y="572095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Feature Scaling</a:t>
            </a:r>
            <a:endParaRPr lang="en-US" sz="2200" dirty="0"/>
          </a:p>
        </p:txBody>
      </p:sp>
      <p:sp>
        <p:nvSpPr>
          <p:cNvPr id="6" name="Text 2"/>
          <p:cNvSpPr/>
          <p:nvPr/>
        </p:nvSpPr>
        <p:spPr>
          <a:xfrm>
            <a:off x="1020604" y="6211372"/>
            <a:ext cx="3893939" cy="1088708"/>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Standardized Time and Amount features while preserving PCA-transformed variables</a:t>
            </a:r>
            <a:endParaRPr lang="en-US" sz="1750" dirty="0"/>
          </a:p>
        </p:txBody>
      </p:sp>
      <p:pic>
        <p:nvPicPr>
          <p:cNvPr id="7" name="Image 2" descr="preencoded.png">    </p:cNvPr>
          <p:cNvPicPr>
            <a:picLocks noChangeAspect="1"/>
          </p:cNvPicPr>
          <p:nvPr/>
        </p:nvPicPr>
        <p:blipFill>
          <a:blip r:embed="rId3"/>
          <a:stretch>
            <a:fillRect/>
          </a:stretch>
        </p:blipFill>
        <p:spPr>
          <a:xfrm>
            <a:off x="5141357" y="4586883"/>
            <a:ext cx="4347567" cy="907256"/>
          </a:xfrm>
          <a:prstGeom prst="rect">
            <a:avLst/>
          </a:prstGeom>
        </p:spPr>
      </p:pic>
      <p:sp>
        <p:nvSpPr>
          <p:cNvPr id="8" name="Text 3"/>
          <p:cNvSpPr/>
          <p:nvPr/>
        </p:nvSpPr>
        <p:spPr>
          <a:xfrm>
            <a:off x="5368171" y="572095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Train-Test Split</a:t>
            </a:r>
            <a:endParaRPr lang="en-US" sz="2200" dirty="0"/>
          </a:p>
        </p:txBody>
      </p:sp>
      <p:sp>
        <p:nvSpPr>
          <p:cNvPr id="9" name="Text 4"/>
          <p:cNvSpPr/>
          <p:nvPr/>
        </p:nvSpPr>
        <p:spPr>
          <a:xfrm>
            <a:off x="5368171" y="6211372"/>
            <a:ext cx="3893939"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80-20 split with stratification to maintain fraud distribution</a:t>
            </a:r>
            <a:endParaRPr lang="en-US" sz="1750" dirty="0"/>
          </a:p>
        </p:txBody>
      </p:sp>
      <p:pic>
        <p:nvPicPr>
          <p:cNvPr id="10" name="Image 3" descr="preencoded.png">    </p:cNvPr>
          <p:cNvPicPr>
            <a:picLocks noChangeAspect="1"/>
          </p:cNvPicPr>
          <p:nvPr/>
        </p:nvPicPr>
        <p:blipFill>
          <a:blip r:embed="rId4"/>
          <a:stretch>
            <a:fillRect/>
          </a:stretch>
        </p:blipFill>
        <p:spPr>
          <a:xfrm>
            <a:off x="9488924" y="4586883"/>
            <a:ext cx="4347567" cy="907256"/>
          </a:xfrm>
          <a:prstGeom prst="rect">
            <a:avLst/>
          </a:prstGeom>
        </p:spPr>
      </p:pic>
      <p:sp>
        <p:nvSpPr>
          <p:cNvPr id="11" name="Text 5"/>
          <p:cNvSpPr/>
          <p:nvPr/>
        </p:nvSpPr>
        <p:spPr>
          <a:xfrm>
            <a:off x="9715738" y="572095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Imbalance Handling</a:t>
            </a:r>
            <a:endParaRPr lang="en-US" sz="2200" dirty="0"/>
          </a:p>
        </p:txBody>
      </p:sp>
      <p:sp>
        <p:nvSpPr>
          <p:cNvPr id="12" name="Text 6"/>
          <p:cNvSpPr/>
          <p:nvPr/>
        </p:nvSpPr>
        <p:spPr>
          <a:xfrm>
            <a:off x="9715738" y="6211372"/>
            <a:ext cx="3893939"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Tested SMOTE, undersampling, and class weights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0" y="0"/>
            <a:ext cx="9144000" cy="8229600"/>
          </a:xfrm>
          <a:prstGeom prst="rect">
            <a:avLst/>
          </a:prstGeom>
        </p:spPr>
      </p:pic>
      <p:pic>
        <p:nvPicPr>
          <p:cNvPr id="3" name="Image 1" descr="preencoded.png">    </p:cNvPr>
          <p:cNvPicPr>
            <a:picLocks noChangeAspect="1"/>
          </p:cNvPicPr>
          <p:nvPr/>
        </p:nvPicPr>
        <p:blipFill>
          <a:blip r:embed="rId2"/>
          <a:stretch>
            <a:fillRect/>
          </a:stretch>
        </p:blipFill>
        <p:spPr>
          <a:xfrm>
            <a:off x="6290310" y="1809750"/>
            <a:ext cx="7536180" cy="4610100"/>
          </a:xfrm>
          <a:prstGeom prst="rect">
            <a:avLst/>
          </a:prstGeom>
        </p:spPr>
      </p:pic>
      <p:sp>
        <p:nvSpPr>
          <p:cNvPr id="4" name="Text 0"/>
          <p:cNvSpPr/>
          <p:nvPr/>
        </p:nvSpPr>
        <p:spPr>
          <a:xfrm>
            <a:off x="793790" y="2155746"/>
            <a:ext cx="3898821" cy="2126337"/>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Model Performance Comparison</a:t>
            </a:r>
            <a:endParaRPr lang="en-US" sz="4450" dirty="0"/>
          </a:p>
        </p:txBody>
      </p:sp>
      <p:sp>
        <p:nvSpPr>
          <p:cNvPr id="5" name="Text 1"/>
          <p:cNvSpPr/>
          <p:nvPr/>
        </p:nvSpPr>
        <p:spPr>
          <a:xfrm>
            <a:off x="793790" y="4622244"/>
            <a:ext cx="3898821" cy="1451610"/>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Random Forest with SMOTE emerged as the clear winner, achieving the highest PR-AUC of 0.8747 and best balance between precision and recall.</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0369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The Winning Model</a:t>
            </a:r>
            <a:endParaRPr lang="en-US" sz="4450" dirty="0"/>
          </a:p>
        </p:txBody>
      </p:sp>
      <p:sp>
        <p:nvSpPr>
          <p:cNvPr id="3" name="Text 1"/>
          <p:cNvSpPr/>
          <p:nvPr/>
        </p:nvSpPr>
        <p:spPr>
          <a:xfrm>
            <a:off x="793790" y="2279452"/>
            <a:ext cx="3880961" cy="425291"/>
          </a:xfrm>
          <a:prstGeom prst="rect">
            <a:avLst/>
          </a:prstGeom>
          <a:noFill/>
          <a:ln/>
        </p:spPr>
        <p:txBody>
          <a:bodyPr wrap="none" lIns="0" tIns="0" rIns="0" bIns="0" rtlCol="0" anchor="t"/>
          <a:lstStyle/>
          <a:p>
            <a:pPr algn="l" indent="0" marL="0">
              <a:lnSpc>
                <a:spcPts val="3300"/>
              </a:lnSpc>
              <a:buNone/>
            </a:pPr>
            <a:r>
              <a:rPr lang="en-US" sz="2650" dirty="0">
                <a:solidFill>
                  <a:srgbClr val="1B1B27"/>
                </a:solidFill>
                <a:latin typeface="Raleway" pitchFamily="34" charset="0"/>
                <a:ea typeface="Raleway" pitchFamily="34" charset="-122"/>
                <a:cs typeface="Raleway" pitchFamily="34" charset="-120"/>
              </a:rPr>
              <a:t>Random Forest + SMOTE</a:t>
            </a:r>
            <a:endParaRPr lang="en-US" sz="2650" dirty="0"/>
          </a:p>
        </p:txBody>
      </p:sp>
      <p:sp>
        <p:nvSpPr>
          <p:cNvPr id="4" name="Shape 2"/>
          <p:cNvSpPr/>
          <p:nvPr/>
        </p:nvSpPr>
        <p:spPr>
          <a:xfrm>
            <a:off x="793790" y="3073241"/>
            <a:ext cx="3981807" cy="283488"/>
          </a:xfrm>
          <a:prstGeom prst="roundRect">
            <a:avLst>
              <a:gd name="adj" fmla="val 33606"/>
            </a:avLst>
          </a:prstGeom>
          <a:solidFill>
            <a:srgbClr val="E1E1EA"/>
          </a:solidFill>
          <a:ln w="7620">
            <a:solidFill>
              <a:srgbClr val="C7C7D0"/>
            </a:solidFill>
            <a:prstDash val="solid"/>
          </a:ln>
        </p:spPr>
      </p:sp>
      <p:sp>
        <p:nvSpPr>
          <p:cNvPr id="5" name="Shape 3"/>
          <p:cNvSpPr/>
          <p:nvPr/>
        </p:nvSpPr>
        <p:spPr>
          <a:xfrm>
            <a:off x="793790" y="3073241"/>
            <a:ext cx="3364587" cy="283488"/>
          </a:xfrm>
          <a:prstGeom prst="roundRect">
            <a:avLst>
              <a:gd name="adj" fmla="val 33606"/>
            </a:avLst>
          </a:prstGeom>
          <a:solidFill>
            <a:srgbClr val="1B1B27"/>
          </a:solidFill>
          <a:ln/>
        </p:spPr>
      </p:sp>
      <p:sp>
        <p:nvSpPr>
          <p:cNvPr id="6" name="Text 4"/>
          <p:cNvSpPr/>
          <p:nvPr/>
        </p:nvSpPr>
        <p:spPr>
          <a:xfrm>
            <a:off x="4945618" y="3073241"/>
            <a:ext cx="733187" cy="283488"/>
          </a:xfrm>
          <a:prstGeom prst="rect">
            <a:avLst/>
          </a:prstGeom>
          <a:noFill/>
          <a:ln/>
        </p:spPr>
        <p:txBody>
          <a:bodyPr wrap="none" lIns="0" tIns="0" rIns="0" bIns="0" rtlCol="0" anchor="t"/>
          <a:lstStyle/>
          <a:p>
            <a:pPr algn="l" indent="0" marL="0">
              <a:lnSpc>
                <a:spcPts val="2200"/>
              </a:lnSpc>
              <a:buNone/>
            </a:pPr>
            <a:r>
              <a:rPr lang="en-US" sz="2200" dirty="0">
                <a:solidFill>
                  <a:srgbClr val="3C3939"/>
                </a:solidFill>
                <a:latin typeface="Raleway" pitchFamily="34" charset="0"/>
                <a:ea typeface="Raleway" pitchFamily="34" charset="-122"/>
                <a:cs typeface="Raleway" pitchFamily="34" charset="-120"/>
              </a:rPr>
              <a:t>84.5%</a:t>
            </a:r>
            <a:endParaRPr lang="en-US" sz="2200" dirty="0"/>
          </a:p>
        </p:txBody>
      </p:sp>
      <p:sp>
        <p:nvSpPr>
          <p:cNvPr id="7" name="Text 5"/>
          <p:cNvSpPr/>
          <p:nvPr/>
        </p:nvSpPr>
        <p:spPr>
          <a:xfrm>
            <a:off x="793790" y="364009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Precision</a:t>
            </a:r>
            <a:endParaRPr lang="en-US" sz="2200" dirty="0"/>
          </a:p>
        </p:txBody>
      </p:sp>
      <p:sp>
        <p:nvSpPr>
          <p:cNvPr id="8" name="Shape 6"/>
          <p:cNvSpPr/>
          <p:nvPr/>
        </p:nvSpPr>
        <p:spPr>
          <a:xfrm>
            <a:off x="793790" y="4561403"/>
            <a:ext cx="3995142" cy="283488"/>
          </a:xfrm>
          <a:prstGeom prst="roundRect">
            <a:avLst>
              <a:gd name="adj" fmla="val 33606"/>
            </a:avLst>
          </a:prstGeom>
          <a:solidFill>
            <a:srgbClr val="E1E1EA"/>
          </a:solidFill>
          <a:ln w="7620">
            <a:solidFill>
              <a:srgbClr val="C7C7D0"/>
            </a:solidFill>
            <a:prstDash val="solid"/>
          </a:ln>
        </p:spPr>
      </p:sp>
      <p:sp>
        <p:nvSpPr>
          <p:cNvPr id="9" name="Shape 7"/>
          <p:cNvSpPr/>
          <p:nvPr/>
        </p:nvSpPr>
        <p:spPr>
          <a:xfrm>
            <a:off x="793790" y="4561403"/>
            <a:ext cx="3343870" cy="283488"/>
          </a:xfrm>
          <a:prstGeom prst="roundRect">
            <a:avLst>
              <a:gd name="adj" fmla="val 33606"/>
            </a:avLst>
          </a:prstGeom>
          <a:solidFill>
            <a:srgbClr val="1B1B27"/>
          </a:solidFill>
          <a:ln/>
        </p:spPr>
      </p:sp>
      <p:sp>
        <p:nvSpPr>
          <p:cNvPr id="10" name="Text 8"/>
          <p:cNvSpPr/>
          <p:nvPr/>
        </p:nvSpPr>
        <p:spPr>
          <a:xfrm>
            <a:off x="4958953" y="4561403"/>
            <a:ext cx="719852" cy="283488"/>
          </a:xfrm>
          <a:prstGeom prst="rect">
            <a:avLst/>
          </a:prstGeom>
          <a:noFill/>
          <a:ln/>
        </p:spPr>
        <p:txBody>
          <a:bodyPr wrap="none" lIns="0" tIns="0" rIns="0" bIns="0" rtlCol="0" anchor="t"/>
          <a:lstStyle/>
          <a:p>
            <a:pPr algn="l" indent="0" marL="0">
              <a:lnSpc>
                <a:spcPts val="2200"/>
              </a:lnSpc>
              <a:buNone/>
            </a:pPr>
            <a:r>
              <a:rPr lang="en-US" sz="2200" dirty="0">
                <a:solidFill>
                  <a:srgbClr val="3C3939"/>
                </a:solidFill>
                <a:latin typeface="Raleway" pitchFamily="34" charset="0"/>
                <a:ea typeface="Raleway" pitchFamily="34" charset="-122"/>
                <a:cs typeface="Raleway" pitchFamily="34" charset="-120"/>
              </a:rPr>
              <a:t>83.7%</a:t>
            </a:r>
            <a:endParaRPr lang="en-US" sz="2200" dirty="0"/>
          </a:p>
        </p:txBody>
      </p:sp>
      <p:sp>
        <p:nvSpPr>
          <p:cNvPr id="11" name="Text 9"/>
          <p:cNvSpPr/>
          <p:nvPr/>
        </p:nvSpPr>
        <p:spPr>
          <a:xfrm>
            <a:off x="793790" y="512826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Recall</a:t>
            </a:r>
            <a:endParaRPr lang="en-US" sz="2200" dirty="0"/>
          </a:p>
        </p:txBody>
      </p:sp>
      <p:sp>
        <p:nvSpPr>
          <p:cNvPr id="12" name="Shape 10"/>
          <p:cNvSpPr/>
          <p:nvPr/>
        </p:nvSpPr>
        <p:spPr>
          <a:xfrm>
            <a:off x="793790" y="6049566"/>
            <a:ext cx="4168259" cy="283488"/>
          </a:xfrm>
          <a:prstGeom prst="roundRect">
            <a:avLst>
              <a:gd name="adj" fmla="val 33606"/>
            </a:avLst>
          </a:prstGeom>
          <a:solidFill>
            <a:srgbClr val="E1E1EA"/>
          </a:solidFill>
          <a:ln w="7620">
            <a:solidFill>
              <a:srgbClr val="C7C7D0"/>
            </a:solidFill>
            <a:prstDash val="solid"/>
          </a:ln>
        </p:spPr>
      </p:sp>
      <p:sp>
        <p:nvSpPr>
          <p:cNvPr id="13" name="Shape 11"/>
          <p:cNvSpPr/>
          <p:nvPr/>
        </p:nvSpPr>
        <p:spPr>
          <a:xfrm>
            <a:off x="793790" y="6049566"/>
            <a:ext cx="36195" cy="283488"/>
          </a:xfrm>
          <a:prstGeom prst="roundRect">
            <a:avLst>
              <a:gd name="adj" fmla="val 263207"/>
            </a:avLst>
          </a:prstGeom>
          <a:solidFill>
            <a:srgbClr val="1B1B27"/>
          </a:solidFill>
          <a:ln/>
        </p:spPr>
      </p:sp>
      <p:sp>
        <p:nvSpPr>
          <p:cNvPr id="14" name="Text 12"/>
          <p:cNvSpPr/>
          <p:nvPr/>
        </p:nvSpPr>
        <p:spPr>
          <a:xfrm>
            <a:off x="5132070" y="6049566"/>
            <a:ext cx="546735" cy="283488"/>
          </a:xfrm>
          <a:prstGeom prst="rect">
            <a:avLst/>
          </a:prstGeom>
          <a:noFill/>
          <a:ln/>
        </p:spPr>
        <p:txBody>
          <a:bodyPr wrap="none" lIns="0" tIns="0" rIns="0" bIns="0" rtlCol="0" anchor="t"/>
          <a:lstStyle/>
          <a:p>
            <a:pPr algn="l" indent="0" marL="0">
              <a:lnSpc>
                <a:spcPts val="2200"/>
              </a:lnSpc>
              <a:buNone/>
            </a:pPr>
            <a:r>
              <a:rPr lang="en-US" sz="2200" dirty="0">
                <a:solidFill>
                  <a:srgbClr val="3C3939"/>
                </a:solidFill>
                <a:latin typeface="Raleway" pitchFamily="34" charset="0"/>
                <a:ea typeface="Raleway" pitchFamily="34" charset="-122"/>
                <a:cs typeface="Raleway" pitchFamily="34" charset="-120"/>
              </a:rPr>
              <a:t>0.87</a:t>
            </a:r>
            <a:endParaRPr lang="en-US" sz="2200" dirty="0"/>
          </a:p>
        </p:txBody>
      </p:sp>
      <p:sp>
        <p:nvSpPr>
          <p:cNvPr id="15" name="Text 13"/>
          <p:cNvSpPr/>
          <p:nvPr/>
        </p:nvSpPr>
        <p:spPr>
          <a:xfrm>
            <a:off x="793790" y="661642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PR-AUC</a:t>
            </a:r>
            <a:endParaRPr lang="en-US" sz="2200" dirty="0"/>
          </a:p>
        </p:txBody>
      </p:sp>
      <p:sp>
        <p:nvSpPr>
          <p:cNvPr id="16" name="Text 14"/>
          <p:cNvSpPr/>
          <p:nvPr/>
        </p:nvSpPr>
        <p:spPr>
          <a:xfrm>
            <a:off x="6239828" y="227945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Raleway" pitchFamily="34" charset="0"/>
                <a:ea typeface="Raleway" pitchFamily="34" charset="-122"/>
                <a:cs typeface="Raleway" pitchFamily="34" charset="-120"/>
              </a:rPr>
              <a:t>Why This Model Wins</a:t>
            </a:r>
            <a:endParaRPr lang="en-US" sz="2200" dirty="0"/>
          </a:p>
        </p:txBody>
      </p:sp>
      <p:sp>
        <p:nvSpPr>
          <p:cNvPr id="17" name="Text 15"/>
          <p:cNvSpPr/>
          <p:nvPr/>
        </p:nvSpPr>
        <p:spPr>
          <a:xfrm>
            <a:off x="6239828" y="2860596"/>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Only 15 false positives vs. 1,386 for Logistic Regression</a:t>
            </a:r>
            <a:endParaRPr lang="en-US" sz="1750" dirty="0"/>
          </a:p>
        </p:txBody>
      </p:sp>
      <p:sp>
        <p:nvSpPr>
          <p:cNvPr id="18" name="Text 16"/>
          <p:cNvSpPr/>
          <p:nvPr/>
        </p:nvSpPr>
        <p:spPr>
          <a:xfrm>
            <a:off x="6239828" y="3302794"/>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Caught 82 out of 98 fraudulent transactions</a:t>
            </a:r>
            <a:endParaRPr lang="en-US" sz="1750" dirty="0"/>
          </a:p>
        </p:txBody>
      </p:sp>
      <p:sp>
        <p:nvSpPr>
          <p:cNvPr id="19" name="Text 17"/>
          <p:cNvSpPr/>
          <p:nvPr/>
        </p:nvSpPr>
        <p:spPr>
          <a:xfrm>
            <a:off x="6239828" y="3744992"/>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Optimal balance minimizes customer disruption</a:t>
            </a:r>
            <a:endParaRPr lang="en-US" sz="1750" dirty="0"/>
          </a:p>
        </p:txBody>
      </p:sp>
      <p:sp>
        <p:nvSpPr>
          <p:cNvPr id="20" name="Text 18"/>
          <p:cNvSpPr/>
          <p:nvPr/>
        </p:nvSpPr>
        <p:spPr>
          <a:xfrm>
            <a:off x="6239828" y="4187190"/>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Highest PR-AUC indicates superior performance on imbalanced data</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07927"/>
            <a:ext cx="8283535"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Key Findings &amp; Business Impact</a:t>
            </a:r>
            <a:endParaRPr lang="en-US" sz="4450" dirty="0"/>
          </a:p>
        </p:txBody>
      </p:sp>
      <p:sp>
        <p:nvSpPr>
          <p:cNvPr id="3" name="Shape 1"/>
          <p:cNvSpPr/>
          <p:nvPr/>
        </p:nvSpPr>
        <p:spPr>
          <a:xfrm>
            <a:off x="793790" y="2670334"/>
            <a:ext cx="6407944" cy="2093714"/>
          </a:xfrm>
          <a:prstGeom prst="roundRect">
            <a:avLst>
              <a:gd name="adj" fmla="val 6988"/>
            </a:avLst>
          </a:prstGeom>
          <a:solidFill>
            <a:srgbClr val="FFFFFF">
              <a:alpha val="95000"/>
            </a:srgbClr>
          </a:solidFill>
          <a:ln w="30480">
            <a:solidFill>
              <a:srgbClr val="C7C7D0"/>
            </a:solidFill>
            <a:prstDash val="solid"/>
          </a:ln>
        </p:spPr>
      </p:sp>
      <p:sp>
        <p:nvSpPr>
          <p:cNvPr id="4" name="Shape 2"/>
          <p:cNvSpPr/>
          <p:nvPr/>
        </p:nvSpPr>
        <p:spPr>
          <a:xfrm>
            <a:off x="763310" y="2670334"/>
            <a:ext cx="121920" cy="2093714"/>
          </a:xfrm>
          <a:prstGeom prst="roundRect">
            <a:avLst>
              <a:gd name="adj" fmla="val 78139"/>
            </a:avLst>
          </a:prstGeom>
          <a:solidFill>
            <a:srgbClr val="1B1B27"/>
          </a:solidFill>
          <a:ln/>
        </p:spPr>
      </p:sp>
      <p:sp>
        <p:nvSpPr>
          <p:cNvPr id="5" name="Text 3"/>
          <p:cNvSpPr/>
          <p:nvPr/>
        </p:nvSpPr>
        <p:spPr>
          <a:xfrm>
            <a:off x="1142524" y="292762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Feature Importance</a:t>
            </a:r>
            <a:endParaRPr lang="en-US" sz="2200" dirty="0"/>
          </a:p>
        </p:txBody>
      </p:sp>
      <p:sp>
        <p:nvSpPr>
          <p:cNvPr id="6" name="Text 4"/>
          <p:cNvSpPr/>
          <p:nvPr/>
        </p:nvSpPr>
        <p:spPr>
          <a:xfrm>
            <a:off x="1142524" y="3418046"/>
            <a:ext cx="5801916"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V14, V10, V4, V12, and V17 are the primary fraud indicators, accounting for over 60% of predictive power</a:t>
            </a:r>
            <a:endParaRPr lang="en-US" sz="1750" dirty="0"/>
          </a:p>
        </p:txBody>
      </p:sp>
      <p:sp>
        <p:nvSpPr>
          <p:cNvPr id="7" name="Shape 5"/>
          <p:cNvSpPr/>
          <p:nvPr/>
        </p:nvSpPr>
        <p:spPr>
          <a:xfrm>
            <a:off x="7428548" y="2670334"/>
            <a:ext cx="6408063" cy="2093714"/>
          </a:xfrm>
          <a:prstGeom prst="roundRect">
            <a:avLst>
              <a:gd name="adj" fmla="val 6988"/>
            </a:avLst>
          </a:prstGeom>
          <a:solidFill>
            <a:srgbClr val="FFFFFF">
              <a:alpha val="95000"/>
            </a:srgbClr>
          </a:solidFill>
          <a:ln w="30480">
            <a:solidFill>
              <a:srgbClr val="C7C7D0"/>
            </a:solidFill>
            <a:prstDash val="solid"/>
          </a:ln>
        </p:spPr>
      </p:sp>
      <p:sp>
        <p:nvSpPr>
          <p:cNvPr id="8" name="Shape 6"/>
          <p:cNvSpPr/>
          <p:nvPr/>
        </p:nvSpPr>
        <p:spPr>
          <a:xfrm>
            <a:off x="7398067" y="2670334"/>
            <a:ext cx="121920" cy="2093714"/>
          </a:xfrm>
          <a:prstGeom prst="roundRect">
            <a:avLst>
              <a:gd name="adj" fmla="val 78139"/>
            </a:avLst>
          </a:prstGeom>
          <a:solidFill>
            <a:srgbClr val="1B1B27"/>
          </a:solidFill>
          <a:ln/>
        </p:spPr>
      </p:sp>
      <p:sp>
        <p:nvSpPr>
          <p:cNvPr id="9" name="Text 7"/>
          <p:cNvSpPr/>
          <p:nvPr/>
        </p:nvSpPr>
        <p:spPr>
          <a:xfrm>
            <a:off x="7777282" y="2927628"/>
            <a:ext cx="3042047"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Threshold Optimization</a:t>
            </a:r>
            <a:endParaRPr lang="en-US" sz="2200" dirty="0"/>
          </a:p>
        </p:txBody>
      </p:sp>
      <p:sp>
        <p:nvSpPr>
          <p:cNvPr id="10" name="Text 8"/>
          <p:cNvSpPr/>
          <p:nvPr/>
        </p:nvSpPr>
        <p:spPr>
          <a:xfrm>
            <a:off x="7777282" y="3418046"/>
            <a:ext cx="5802035" cy="1088708"/>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Lowering threshold to 0.35 increased recall to 89.8% while maintaining 76.5% precision—catching 11% more fraud</a:t>
            </a:r>
            <a:endParaRPr lang="en-US" sz="1750" dirty="0"/>
          </a:p>
        </p:txBody>
      </p:sp>
      <p:sp>
        <p:nvSpPr>
          <p:cNvPr id="11" name="Shape 9"/>
          <p:cNvSpPr/>
          <p:nvPr/>
        </p:nvSpPr>
        <p:spPr>
          <a:xfrm>
            <a:off x="793790" y="4990862"/>
            <a:ext cx="6407944" cy="1730812"/>
          </a:xfrm>
          <a:prstGeom prst="roundRect">
            <a:avLst>
              <a:gd name="adj" fmla="val 8453"/>
            </a:avLst>
          </a:prstGeom>
          <a:solidFill>
            <a:srgbClr val="FFFFFF">
              <a:alpha val="95000"/>
            </a:srgbClr>
          </a:solidFill>
          <a:ln w="30480">
            <a:solidFill>
              <a:srgbClr val="C7C7D0"/>
            </a:solidFill>
            <a:prstDash val="solid"/>
          </a:ln>
        </p:spPr>
      </p:sp>
      <p:sp>
        <p:nvSpPr>
          <p:cNvPr id="12" name="Shape 10"/>
          <p:cNvSpPr/>
          <p:nvPr/>
        </p:nvSpPr>
        <p:spPr>
          <a:xfrm>
            <a:off x="763310" y="4990862"/>
            <a:ext cx="121920" cy="1730812"/>
          </a:xfrm>
          <a:prstGeom prst="roundRect">
            <a:avLst>
              <a:gd name="adj" fmla="val 78139"/>
            </a:avLst>
          </a:prstGeom>
          <a:solidFill>
            <a:srgbClr val="1B1B27"/>
          </a:solidFill>
          <a:ln/>
        </p:spPr>
      </p:sp>
      <p:sp>
        <p:nvSpPr>
          <p:cNvPr id="13" name="Text 11"/>
          <p:cNvSpPr/>
          <p:nvPr/>
        </p:nvSpPr>
        <p:spPr>
          <a:xfrm>
            <a:off x="1142524" y="5248156"/>
            <a:ext cx="2864882"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Operational Efficiency</a:t>
            </a:r>
            <a:endParaRPr lang="en-US" sz="2200" dirty="0"/>
          </a:p>
        </p:txBody>
      </p:sp>
      <p:sp>
        <p:nvSpPr>
          <p:cNvPr id="14" name="Text 12"/>
          <p:cNvSpPr/>
          <p:nvPr/>
        </p:nvSpPr>
        <p:spPr>
          <a:xfrm>
            <a:off x="1142524" y="5738574"/>
            <a:ext cx="5801916"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Reduced false alarms by 99% compared to baseline, dramatically lowering manual review costs</a:t>
            </a:r>
            <a:endParaRPr lang="en-US" sz="1750" dirty="0"/>
          </a:p>
        </p:txBody>
      </p:sp>
      <p:sp>
        <p:nvSpPr>
          <p:cNvPr id="15" name="Shape 13"/>
          <p:cNvSpPr/>
          <p:nvPr/>
        </p:nvSpPr>
        <p:spPr>
          <a:xfrm>
            <a:off x="7428548" y="4990862"/>
            <a:ext cx="6408063" cy="1730812"/>
          </a:xfrm>
          <a:prstGeom prst="roundRect">
            <a:avLst>
              <a:gd name="adj" fmla="val 8453"/>
            </a:avLst>
          </a:prstGeom>
          <a:solidFill>
            <a:srgbClr val="FFFFFF">
              <a:alpha val="95000"/>
            </a:srgbClr>
          </a:solidFill>
          <a:ln w="30480">
            <a:solidFill>
              <a:srgbClr val="C7C7D0"/>
            </a:solidFill>
            <a:prstDash val="solid"/>
          </a:ln>
        </p:spPr>
      </p:sp>
      <p:sp>
        <p:nvSpPr>
          <p:cNvPr id="16" name="Shape 14"/>
          <p:cNvSpPr/>
          <p:nvPr/>
        </p:nvSpPr>
        <p:spPr>
          <a:xfrm>
            <a:off x="7398067" y="4990862"/>
            <a:ext cx="121920" cy="1730812"/>
          </a:xfrm>
          <a:prstGeom prst="roundRect">
            <a:avLst>
              <a:gd name="adj" fmla="val 78139"/>
            </a:avLst>
          </a:prstGeom>
          <a:solidFill>
            <a:srgbClr val="1B1B27"/>
          </a:solidFill>
          <a:ln/>
        </p:spPr>
      </p:sp>
      <p:sp>
        <p:nvSpPr>
          <p:cNvPr id="17" name="Text 15"/>
          <p:cNvSpPr/>
          <p:nvPr/>
        </p:nvSpPr>
        <p:spPr>
          <a:xfrm>
            <a:off x="7777282" y="524815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Customer Experience</a:t>
            </a:r>
            <a:endParaRPr lang="en-US" sz="2200" dirty="0"/>
          </a:p>
        </p:txBody>
      </p:sp>
      <p:sp>
        <p:nvSpPr>
          <p:cNvPr id="18" name="Text 16"/>
          <p:cNvSpPr/>
          <p:nvPr/>
        </p:nvSpPr>
        <p:spPr>
          <a:xfrm>
            <a:off x="7777282" y="5738574"/>
            <a:ext cx="5802035"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Minimized legitimate transaction blocks while maintaining robust fraud protection</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2458"/>
          </a:xfrm>
          <a:prstGeom prst="rect">
            <a:avLst/>
          </a:prstGeom>
        </p:spPr>
      </p:pic>
      <p:sp>
        <p:nvSpPr>
          <p:cNvPr id="3" name="Text 0"/>
          <p:cNvSpPr/>
          <p:nvPr/>
        </p:nvSpPr>
        <p:spPr>
          <a:xfrm>
            <a:off x="6229945" y="584240"/>
            <a:ext cx="5311616" cy="663893"/>
          </a:xfrm>
          <a:prstGeom prst="rect">
            <a:avLst/>
          </a:prstGeom>
          <a:noFill/>
          <a:ln/>
        </p:spPr>
        <p:txBody>
          <a:bodyPr wrap="none" lIns="0" tIns="0" rIns="0" bIns="0" rtlCol="0" anchor="t"/>
          <a:lstStyle/>
          <a:p>
            <a:pPr algn="l" indent="0" marL="0">
              <a:lnSpc>
                <a:spcPts val="5200"/>
              </a:lnSpc>
              <a:buNone/>
            </a:pPr>
            <a:r>
              <a:rPr lang="en-US" sz="4150" dirty="0">
                <a:solidFill>
                  <a:srgbClr val="1B1B27"/>
                </a:solidFill>
                <a:latin typeface="Raleway" pitchFamily="34" charset="0"/>
                <a:ea typeface="Raleway" pitchFamily="34" charset="-122"/>
                <a:cs typeface="Raleway" pitchFamily="34" charset="-120"/>
              </a:rPr>
              <a:t>Recommendations</a:t>
            </a:r>
            <a:endParaRPr lang="en-US" sz="4150" dirty="0"/>
          </a:p>
        </p:txBody>
      </p:sp>
      <p:sp>
        <p:nvSpPr>
          <p:cNvPr id="4" name="Shape 1"/>
          <p:cNvSpPr/>
          <p:nvPr/>
        </p:nvSpPr>
        <p:spPr>
          <a:xfrm>
            <a:off x="6229945" y="1566743"/>
            <a:ext cx="3722251" cy="3100507"/>
          </a:xfrm>
          <a:prstGeom prst="roundRect">
            <a:avLst>
              <a:gd name="adj" fmla="val 2878"/>
            </a:avLst>
          </a:prstGeom>
          <a:solidFill>
            <a:srgbClr val="E1E1EA"/>
          </a:solidFill>
          <a:ln w="7620">
            <a:solidFill>
              <a:srgbClr val="C7C7D0"/>
            </a:solidFill>
            <a:prstDash val="solid"/>
          </a:ln>
        </p:spPr>
      </p:sp>
      <p:sp>
        <p:nvSpPr>
          <p:cNvPr id="5" name="Shape 2"/>
          <p:cNvSpPr/>
          <p:nvPr/>
        </p:nvSpPr>
        <p:spPr>
          <a:xfrm>
            <a:off x="6449973" y="1786771"/>
            <a:ext cx="637342" cy="637342"/>
          </a:xfrm>
          <a:prstGeom prst="roundRect">
            <a:avLst>
              <a:gd name="adj" fmla="val 14345651"/>
            </a:avLst>
          </a:prstGeom>
          <a:solidFill>
            <a:srgbClr val="1B1B27"/>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25233" y="1962031"/>
            <a:ext cx="286822" cy="286822"/>
          </a:xfrm>
          <a:prstGeom prst="rect">
            <a:avLst/>
          </a:prstGeom>
        </p:spPr>
      </p:pic>
      <p:sp>
        <p:nvSpPr>
          <p:cNvPr id="7" name="Text 3"/>
          <p:cNvSpPr/>
          <p:nvPr/>
        </p:nvSpPr>
        <p:spPr>
          <a:xfrm>
            <a:off x="6449973" y="2636520"/>
            <a:ext cx="3282196" cy="663893"/>
          </a:xfrm>
          <a:prstGeom prst="rect">
            <a:avLst/>
          </a:prstGeom>
          <a:noFill/>
          <a:ln/>
        </p:spPr>
        <p:txBody>
          <a:bodyPr wrap="square" lIns="0" tIns="0" rIns="0" bIns="0" rtlCol="0" anchor="t"/>
          <a:lstStyle/>
          <a:p>
            <a:pPr algn="l" indent="0" marL="0">
              <a:lnSpc>
                <a:spcPts val="2600"/>
              </a:lnSpc>
              <a:buNone/>
            </a:pPr>
            <a:r>
              <a:rPr lang="en-US" sz="2050" dirty="0">
                <a:solidFill>
                  <a:srgbClr val="3C3939"/>
                </a:solidFill>
                <a:latin typeface="Raleway" pitchFamily="34" charset="0"/>
                <a:ea typeface="Raleway" pitchFamily="34" charset="-122"/>
                <a:cs typeface="Raleway" pitchFamily="34" charset="-120"/>
              </a:rPr>
              <a:t>Deploy Random Forest Model</a:t>
            </a:r>
            <a:endParaRPr lang="en-US" sz="2050" dirty="0"/>
          </a:p>
        </p:txBody>
      </p:sp>
      <p:sp>
        <p:nvSpPr>
          <p:cNvPr id="8" name="Text 4"/>
          <p:cNvSpPr/>
          <p:nvPr/>
        </p:nvSpPr>
        <p:spPr>
          <a:xfrm>
            <a:off x="6449973" y="3427809"/>
            <a:ext cx="3282196" cy="1019413"/>
          </a:xfrm>
          <a:prstGeom prst="rect">
            <a:avLst/>
          </a:prstGeom>
          <a:noFill/>
          <a:ln/>
        </p:spPr>
        <p:txBody>
          <a:bodyPr wrap="square" lIns="0" tIns="0" rIns="0" bIns="0" rtlCol="0" anchor="t"/>
          <a:lstStyle/>
          <a:p>
            <a:pPr algn="l" indent="0" marL="0">
              <a:lnSpc>
                <a:spcPts val="2650"/>
              </a:lnSpc>
              <a:buNone/>
            </a:pPr>
            <a:r>
              <a:rPr lang="en-US" sz="1650" dirty="0">
                <a:solidFill>
                  <a:srgbClr val="3C3939"/>
                </a:solidFill>
                <a:latin typeface="Roboto" pitchFamily="34" charset="0"/>
                <a:ea typeface="Roboto" pitchFamily="34" charset="-122"/>
                <a:cs typeface="Roboto" pitchFamily="34" charset="-120"/>
              </a:rPr>
              <a:t>Implement with 0.35 threshold for optimal fraud detection and customer experience balance</a:t>
            </a:r>
            <a:endParaRPr lang="en-US" sz="1650" dirty="0"/>
          </a:p>
        </p:txBody>
      </p:sp>
      <p:sp>
        <p:nvSpPr>
          <p:cNvPr id="9" name="Shape 5"/>
          <p:cNvSpPr/>
          <p:nvPr/>
        </p:nvSpPr>
        <p:spPr>
          <a:xfrm>
            <a:off x="10164604" y="1566743"/>
            <a:ext cx="3722251" cy="3100507"/>
          </a:xfrm>
          <a:prstGeom prst="roundRect">
            <a:avLst>
              <a:gd name="adj" fmla="val 2878"/>
            </a:avLst>
          </a:prstGeom>
          <a:solidFill>
            <a:srgbClr val="E1E1EA"/>
          </a:solidFill>
          <a:ln w="7620">
            <a:solidFill>
              <a:srgbClr val="C7C7D0"/>
            </a:solidFill>
            <a:prstDash val="solid"/>
          </a:ln>
        </p:spPr>
      </p:sp>
      <p:sp>
        <p:nvSpPr>
          <p:cNvPr id="10" name="Shape 6"/>
          <p:cNvSpPr/>
          <p:nvPr/>
        </p:nvSpPr>
        <p:spPr>
          <a:xfrm>
            <a:off x="10384631" y="1786771"/>
            <a:ext cx="637342" cy="637342"/>
          </a:xfrm>
          <a:prstGeom prst="roundRect">
            <a:avLst>
              <a:gd name="adj" fmla="val 14345651"/>
            </a:avLst>
          </a:prstGeom>
          <a:solidFill>
            <a:srgbClr val="1B1B27"/>
          </a:solidFill>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59891" y="1962031"/>
            <a:ext cx="286822" cy="286822"/>
          </a:xfrm>
          <a:prstGeom prst="rect">
            <a:avLst/>
          </a:prstGeom>
        </p:spPr>
      </p:pic>
      <p:sp>
        <p:nvSpPr>
          <p:cNvPr id="12" name="Text 7"/>
          <p:cNvSpPr/>
          <p:nvPr/>
        </p:nvSpPr>
        <p:spPr>
          <a:xfrm>
            <a:off x="10384631" y="2636520"/>
            <a:ext cx="2780467" cy="331946"/>
          </a:xfrm>
          <a:prstGeom prst="rect">
            <a:avLst/>
          </a:prstGeom>
          <a:noFill/>
          <a:ln/>
        </p:spPr>
        <p:txBody>
          <a:bodyPr wrap="none" lIns="0" tIns="0" rIns="0" bIns="0" rtlCol="0" anchor="t"/>
          <a:lstStyle/>
          <a:p>
            <a:pPr algn="l" indent="0" marL="0">
              <a:lnSpc>
                <a:spcPts val="2600"/>
              </a:lnSpc>
              <a:buNone/>
            </a:pPr>
            <a:r>
              <a:rPr lang="en-US" sz="2050" dirty="0">
                <a:solidFill>
                  <a:srgbClr val="3C3939"/>
                </a:solidFill>
                <a:latin typeface="Raleway" pitchFamily="34" charset="0"/>
                <a:ea typeface="Raleway" pitchFamily="34" charset="-122"/>
                <a:cs typeface="Raleway" pitchFamily="34" charset="-120"/>
              </a:rPr>
              <a:t>Continuous Monitoring</a:t>
            </a:r>
            <a:endParaRPr lang="en-US" sz="2050" dirty="0"/>
          </a:p>
        </p:txBody>
      </p:sp>
      <p:sp>
        <p:nvSpPr>
          <p:cNvPr id="13" name="Text 8"/>
          <p:cNvSpPr/>
          <p:nvPr/>
        </p:nvSpPr>
        <p:spPr>
          <a:xfrm>
            <a:off x="10384631" y="3095863"/>
            <a:ext cx="3282196" cy="1019413"/>
          </a:xfrm>
          <a:prstGeom prst="rect">
            <a:avLst/>
          </a:prstGeom>
          <a:noFill/>
          <a:ln/>
        </p:spPr>
        <p:txBody>
          <a:bodyPr wrap="square" lIns="0" tIns="0" rIns="0" bIns="0" rtlCol="0" anchor="t"/>
          <a:lstStyle/>
          <a:p>
            <a:pPr algn="l" indent="0" marL="0">
              <a:lnSpc>
                <a:spcPts val="2650"/>
              </a:lnSpc>
              <a:buNone/>
            </a:pPr>
            <a:r>
              <a:rPr lang="en-US" sz="1650" dirty="0">
                <a:solidFill>
                  <a:srgbClr val="3C3939"/>
                </a:solidFill>
                <a:latin typeface="Roboto" pitchFamily="34" charset="0"/>
                <a:ea typeface="Roboto" pitchFamily="34" charset="-122"/>
                <a:cs typeface="Roboto" pitchFamily="34" charset="-120"/>
              </a:rPr>
              <a:t>Track model performance and retrain quarterly as fraud patterns evolve</a:t>
            </a:r>
            <a:endParaRPr lang="en-US" sz="1650" dirty="0"/>
          </a:p>
        </p:txBody>
      </p:sp>
      <p:sp>
        <p:nvSpPr>
          <p:cNvPr id="14" name="Shape 9"/>
          <p:cNvSpPr/>
          <p:nvPr/>
        </p:nvSpPr>
        <p:spPr>
          <a:xfrm>
            <a:off x="6229945" y="4879658"/>
            <a:ext cx="3722251" cy="2768560"/>
          </a:xfrm>
          <a:prstGeom prst="roundRect">
            <a:avLst>
              <a:gd name="adj" fmla="val 3223"/>
            </a:avLst>
          </a:prstGeom>
          <a:solidFill>
            <a:srgbClr val="E1E1EA"/>
          </a:solidFill>
          <a:ln w="7620">
            <a:solidFill>
              <a:srgbClr val="C7C7D0"/>
            </a:solidFill>
            <a:prstDash val="solid"/>
          </a:ln>
        </p:spPr>
      </p:sp>
      <p:sp>
        <p:nvSpPr>
          <p:cNvPr id="15" name="Shape 10"/>
          <p:cNvSpPr/>
          <p:nvPr/>
        </p:nvSpPr>
        <p:spPr>
          <a:xfrm>
            <a:off x="6449973" y="5099685"/>
            <a:ext cx="637342" cy="637342"/>
          </a:xfrm>
          <a:prstGeom prst="roundRect">
            <a:avLst>
              <a:gd name="adj" fmla="val 14345651"/>
            </a:avLst>
          </a:prstGeom>
          <a:solidFill>
            <a:srgbClr val="1B1B27"/>
          </a:solidFill>
          <a:ln/>
        </p:spPr>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25233" y="5274945"/>
            <a:ext cx="286822" cy="286822"/>
          </a:xfrm>
          <a:prstGeom prst="rect">
            <a:avLst/>
          </a:prstGeom>
        </p:spPr>
      </p:pic>
      <p:sp>
        <p:nvSpPr>
          <p:cNvPr id="17" name="Text 11"/>
          <p:cNvSpPr/>
          <p:nvPr/>
        </p:nvSpPr>
        <p:spPr>
          <a:xfrm>
            <a:off x="6449973" y="5949434"/>
            <a:ext cx="2655808" cy="331946"/>
          </a:xfrm>
          <a:prstGeom prst="rect">
            <a:avLst/>
          </a:prstGeom>
          <a:noFill/>
          <a:ln/>
        </p:spPr>
        <p:txBody>
          <a:bodyPr wrap="none" lIns="0" tIns="0" rIns="0" bIns="0" rtlCol="0" anchor="t"/>
          <a:lstStyle/>
          <a:p>
            <a:pPr algn="l" indent="0" marL="0">
              <a:lnSpc>
                <a:spcPts val="2600"/>
              </a:lnSpc>
              <a:buNone/>
            </a:pPr>
            <a:r>
              <a:rPr lang="en-US" sz="2050" dirty="0">
                <a:solidFill>
                  <a:srgbClr val="3C3939"/>
                </a:solidFill>
                <a:latin typeface="Raleway" pitchFamily="34" charset="0"/>
                <a:ea typeface="Raleway" pitchFamily="34" charset="-122"/>
                <a:cs typeface="Raleway" pitchFamily="34" charset="-120"/>
              </a:rPr>
              <a:t>System Integration</a:t>
            </a:r>
            <a:endParaRPr lang="en-US" sz="2050" dirty="0"/>
          </a:p>
        </p:txBody>
      </p:sp>
      <p:sp>
        <p:nvSpPr>
          <p:cNvPr id="18" name="Text 12"/>
          <p:cNvSpPr/>
          <p:nvPr/>
        </p:nvSpPr>
        <p:spPr>
          <a:xfrm>
            <a:off x="6449973" y="6408777"/>
            <a:ext cx="3282196" cy="1019413"/>
          </a:xfrm>
          <a:prstGeom prst="rect">
            <a:avLst/>
          </a:prstGeom>
          <a:noFill/>
          <a:ln/>
        </p:spPr>
        <p:txBody>
          <a:bodyPr wrap="square" lIns="0" tIns="0" rIns="0" bIns="0" rtlCol="0" anchor="t"/>
          <a:lstStyle/>
          <a:p>
            <a:pPr algn="l" indent="0" marL="0">
              <a:lnSpc>
                <a:spcPts val="2650"/>
              </a:lnSpc>
              <a:buNone/>
            </a:pPr>
            <a:r>
              <a:rPr lang="en-US" sz="1650" dirty="0">
                <a:solidFill>
                  <a:srgbClr val="3C3939"/>
                </a:solidFill>
                <a:latin typeface="Roboto" pitchFamily="34" charset="0"/>
                <a:ea typeface="Roboto" pitchFamily="34" charset="-122"/>
                <a:cs typeface="Roboto" pitchFamily="34" charset="-120"/>
              </a:rPr>
              <a:t>Integrate with real-time transaction processing for immediate fraud flagging</a:t>
            </a:r>
            <a:endParaRPr lang="en-US" sz="1650" dirty="0"/>
          </a:p>
        </p:txBody>
      </p:sp>
      <p:sp>
        <p:nvSpPr>
          <p:cNvPr id="19" name="Shape 13"/>
          <p:cNvSpPr/>
          <p:nvPr/>
        </p:nvSpPr>
        <p:spPr>
          <a:xfrm>
            <a:off x="10164604" y="4879658"/>
            <a:ext cx="3722251" cy="2768560"/>
          </a:xfrm>
          <a:prstGeom prst="roundRect">
            <a:avLst>
              <a:gd name="adj" fmla="val 3223"/>
            </a:avLst>
          </a:prstGeom>
          <a:solidFill>
            <a:srgbClr val="E1E1EA"/>
          </a:solidFill>
          <a:ln w="7620">
            <a:solidFill>
              <a:srgbClr val="C7C7D0"/>
            </a:solidFill>
            <a:prstDash val="solid"/>
          </a:ln>
        </p:spPr>
      </p:sp>
      <p:sp>
        <p:nvSpPr>
          <p:cNvPr id="20" name="Shape 14"/>
          <p:cNvSpPr/>
          <p:nvPr/>
        </p:nvSpPr>
        <p:spPr>
          <a:xfrm>
            <a:off x="10384631" y="5099685"/>
            <a:ext cx="637342" cy="637342"/>
          </a:xfrm>
          <a:prstGeom prst="roundRect">
            <a:avLst>
              <a:gd name="adj" fmla="val 14345651"/>
            </a:avLst>
          </a:prstGeom>
          <a:solidFill>
            <a:srgbClr val="1B1B27"/>
          </a:solidFill>
          <a:ln/>
        </p:spPr>
      </p:sp>
      <p:pic>
        <p:nvPicPr>
          <p:cNvPr id="2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559891" y="5274945"/>
            <a:ext cx="286822" cy="286822"/>
          </a:xfrm>
          <a:prstGeom prst="rect">
            <a:avLst/>
          </a:prstGeom>
        </p:spPr>
      </p:pic>
      <p:sp>
        <p:nvSpPr>
          <p:cNvPr id="22" name="Text 15"/>
          <p:cNvSpPr/>
          <p:nvPr/>
        </p:nvSpPr>
        <p:spPr>
          <a:xfrm>
            <a:off x="10384631" y="5949434"/>
            <a:ext cx="2655808" cy="331946"/>
          </a:xfrm>
          <a:prstGeom prst="rect">
            <a:avLst/>
          </a:prstGeom>
          <a:noFill/>
          <a:ln/>
        </p:spPr>
        <p:txBody>
          <a:bodyPr wrap="none" lIns="0" tIns="0" rIns="0" bIns="0" rtlCol="0" anchor="t"/>
          <a:lstStyle/>
          <a:p>
            <a:pPr algn="l" indent="0" marL="0">
              <a:lnSpc>
                <a:spcPts val="2600"/>
              </a:lnSpc>
              <a:buNone/>
            </a:pPr>
            <a:r>
              <a:rPr lang="en-US" sz="2050" dirty="0">
                <a:solidFill>
                  <a:srgbClr val="3C3939"/>
                </a:solidFill>
                <a:latin typeface="Raleway" pitchFamily="34" charset="0"/>
                <a:ea typeface="Raleway" pitchFamily="34" charset="-122"/>
                <a:cs typeface="Raleway" pitchFamily="34" charset="-120"/>
              </a:rPr>
              <a:t>Cost-Benefit Analysis</a:t>
            </a:r>
            <a:endParaRPr lang="en-US" sz="2050" dirty="0"/>
          </a:p>
        </p:txBody>
      </p:sp>
      <p:sp>
        <p:nvSpPr>
          <p:cNvPr id="23" name="Text 16"/>
          <p:cNvSpPr/>
          <p:nvPr/>
        </p:nvSpPr>
        <p:spPr>
          <a:xfrm>
            <a:off x="10384631" y="6408777"/>
            <a:ext cx="3282196" cy="1019413"/>
          </a:xfrm>
          <a:prstGeom prst="rect">
            <a:avLst/>
          </a:prstGeom>
          <a:noFill/>
          <a:ln/>
        </p:spPr>
        <p:txBody>
          <a:bodyPr wrap="square" lIns="0" tIns="0" rIns="0" bIns="0" rtlCol="0" anchor="t"/>
          <a:lstStyle/>
          <a:p>
            <a:pPr algn="l" indent="0" marL="0">
              <a:lnSpc>
                <a:spcPts val="2650"/>
              </a:lnSpc>
              <a:buNone/>
            </a:pPr>
            <a:r>
              <a:rPr lang="en-US" sz="1650" dirty="0">
                <a:solidFill>
                  <a:srgbClr val="3C3939"/>
                </a:solidFill>
                <a:latin typeface="Roboto" pitchFamily="34" charset="0"/>
                <a:ea typeface="Roboto" pitchFamily="34" charset="-122"/>
                <a:cs typeface="Roboto" pitchFamily="34" charset="-120"/>
              </a:rPr>
              <a:t>Regularly assess financial impact and adjust threshold based on business priorities</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55543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Thank You</a:t>
            </a:r>
            <a:endParaRPr lang="en-US" sz="4450" dirty="0"/>
          </a:p>
        </p:txBody>
      </p:sp>
      <p:sp>
        <p:nvSpPr>
          <p:cNvPr id="4" name="Text 1"/>
          <p:cNvSpPr/>
          <p:nvPr/>
        </p:nvSpPr>
        <p:spPr>
          <a:xfrm>
            <a:off x="793790" y="3604379"/>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Your time and attention are greatly appreciated. We hope this analysis provides valuable insights into enhancing our fraud detection capabilities and protecting our customers. For any questions or further discussion, please feel free to reach out.</a:t>
            </a:r>
            <a:endParaRPr lang="en-US" sz="1750" dirty="0"/>
          </a:p>
        </p:txBody>
      </p:sp>
      <p:sp>
        <p:nvSpPr>
          <p:cNvPr id="5" name="Text 2"/>
          <p:cNvSpPr/>
          <p:nvPr/>
        </p:nvSpPr>
        <p:spPr>
          <a:xfrm>
            <a:off x="793790" y="5311140"/>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Michelle Mwende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2025-12-17T10:49:05Z</dcterms:created>
  <dcterms:modified xsi:type="dcterms:W3CDTF">2025-12-17T10:49:05Z</dcterms:modified>
</cp:coreProperties>
</file>